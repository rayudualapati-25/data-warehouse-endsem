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63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SQL Agent Data Warehouse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235440" y="6510528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AI research pipeline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1323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Autonomous SQL Agent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Warehouse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analytics with schema-aware planning, guarded SQL generation, safe execution, repair, and traceable run evidence.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01568"/>
            <a:ext cx="6995160" cy="685800"/>
          </a:xfrm>
          <a:prstGeom prst="roundRect">
            <a:avLst>
              <a:gd name="adj" fmla="val 8000"/>
            </a:avLst>
          </a:prstGeom>
          <a:solidFill>
            <a:srgbClr val="070A0F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529584"/>
            <a:ext cx="6720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user_question -&gt; structured_plan -&gt; allowlisted_sql -&gt; execution -&gt; evaluation -&gt; trace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28432" y="960120"/>
            <a:ext cx="3566160" cy="3840480"/>
          </a:xfrm>
          <a:prstGeom prst="roundRect">
            <a:avLst>
              <a:gd name="adj" fmla="val 1538"/>
            </a:avLst>
          </a:prstGeom>
          <a:solidFill>
            <a:srgbClr val="11161D"/>
          </a:solidFill>
          <a:ln w="12700">
            <a:solidFill>
              <a:srgbClr val="354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0" y="1243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</a:rPr>
              <a:t>Verified baseline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75320" y="1737360"/>
            <a:ext cx="141732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48472" y="1792224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tests passed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9893808" y="1737360"/>
            <a:ext cx="109728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0" y="17922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demo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8275320" y="2121408"/>
            <a:ext cx="123444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176272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planner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9710928" y="2121408"/>
            <a:ext cx="1444752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2176272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retries smoke run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8275320" y="2670048"/>
            <a:ext cx="283464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1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Frontend: http://localhost:5173</a:t>
            </a:r>
            <a:endParaRPr lang="en-US" sz="1150" dirty="0"/>
          </a:p>
          <a:p>
            <a:r>
              <a:rPr lang="en-US" sz="11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FastAPI on port 8000</a:t>
            </a:r>
            <a:endParaRPr lang="en-US" sz="1150" dirty="0"/>
          </a:p>
          <a:p>
            <a:r>
              <a:rPr lang="en-US" sz="11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Database: data/demo.sqlite</a:t>
            </a:r>
            <a:endParaRPr lang="en-US" sz="1150" dirty="0"/>
          </a:p>
          <a:p>
            <a:r>
              <a:rPr lang="en-US" sz="11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reports/iteration and experiments/runs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does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303520" cy="4434840"/>
          </a:xfrm>
          <a:prstGeom prst="roundRect">
            <a:avLst>
              <a:gd name="adj" fmla="val 1237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914400"/>
            <a:ext cx="5394960" cy="4434840"/>
          </a:xfrm>
          <a:prstGeom prst="roundRect">
            <a:avLst>
              <a:gd name="adj" fmla="val 1237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4663440" cy="3246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a working natural-language-to-SQL analytics prototype for a warehouse-style dataset.</a:t>
            </a:r>
            <a:endParaRPr lang="en-US" sz="1400" dirty="0"/>
          </a:p>
          <a:p>
            <a:r>
              <a:rPr lang="en-US" sz="14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an LLM for planning and SQL generation, but wraps it with metadata, validation, execution guardrails, and run tracing.</a:t>
            </a:r>
            <a:endParaRPr lang="en-US" sz="1400" dirty="0"/>
          </a:p>
          <a:p>
            <a:r>
              <a:rPr lang="en-US" sz="14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focuses on sales analytics such as top customers, country revenue, product revenue, monthly trends, and segmentation-oriented questions.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1280160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070A0F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408176"/>
            <a:ext cx="4389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"Show top 10 customers by total revenue"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Intent: top_customers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SQL: SELECT/CTE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table rows + debug trace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2926080"/>
            <a:ext cx="457200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contribution is architectural: a traceable pipeline around the LLM, not a new model.</a:t>
            </a:r>
            <a:endParaRPr lang="en-US" sz="1300" dirty="0"/>
          </a:p>
          <a:p>
            <a:r>
              <a:rPr lang="en-US" sz="130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are limited to repository evidence and local smoke-test results.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without unsupported SOTA claims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43000"/>
            <a:ext cx="196596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19786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Rule-based NLIDB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063240" y="1133856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7EDF4"/>
                </a:solidFill>
              </a:rPr>
              <a:t>Early systems mapped controlled language to SQL using handcrafted grammars and templates. They were interpretable but brittle.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822960" y="1947672"/>
            <a:ext cx="196596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02536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 semantic parsing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7EDF4"/>
                </a:solidFill>
              </a:rPr>
              <a:t>Seq2seq and transformer systems improved flexibility but still struggled with schema linking and execution validity.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822960" y="2752344"/>
            <a:ext cx="196596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807208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LLM-based NL2SQL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063240" y="274320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7EDF4"/>
                </a:solidFill>
              </a:rPr>
              <a:t>Modern LLMs can draft SQL from natural language, but may hallucinate tables, columns, and unsupported assumptions.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822960" y="3557016"/>
            <a:ext cx="196596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11880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Metadata-aware agents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063240" y="354787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7EDF4"/>
                </a:solidFill>
              </a:rPr>
              <a:t>Recent systems improve reliability by grounding generation in schema metadata, examples, and execution feedback.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822960" y="4361688"/>
            <a:ext cx="196596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16552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project position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063240" y="435254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7EDF4"/>
                </a:solidFill>
              </a:rPr>
              <a:t>A baseline pipeline that combines planning, schema context, allowlist checks, execution repair, and trace logging.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822960" y="5486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786"/>
                </a:solidFill>
              </a:rPr>
              <a:t>Note: the report avoids invented citation numbers and presents literature as technology categories unless formal references are added later.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needed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914400"/>
            <a:ext cx="5577840" cy="4480560"/>
          </a:xfrm>
          <a:prstGeom prst="roundRect">
            <a:avLst>
              <a:gd name="adj" fmla="val 1224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4526280" cy="3200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users need quick answers from warehouse data, but writing SQL requires schema knowledge.</a:t>
            </a:r>
            <a:endParaRPr lang="en-US" sz="1400" dirty="0"/>
          </a:p>
          <a:p>
            <a:r>
              <a:rPr lang="en-US" sz="14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LLM-to-SQL can produce invalid or unsafe SQL if it is not grounded in the real schema.</a:t>
            </a:r>
            <a:endParaRPr lang="en-US" sz="1400" dirty="0"/>
          </a:p>
          <a:p>
            <a:r>
              <a:rPr lang="en-US" sz="14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systems need reproducibility: what prompt, plan, SQL, dataset, result, timing, and error were produced?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070A0F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453896"/>
            <a:ext cx="4389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problem: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can a user ask natural-language warehouse questions while preserving schema grounding, execution safety, and traceability?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3063240"/>
            <a:ext cx="45262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must reject unsafe query forms.</a:t>
            </a:r>
            <a:endParaRPr lang="en-US" sz="1300" dirty="0"/>
          </a:p>
          <a:p>
            <a:r>
              <a:rPr lang="en-US" sz="130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must run against actual registered metadata.</a:t>
            </a:r>
            <a:endParaRPr lang="en-US" sz="1300" dirty="0"/>
          </a:p>
          <a:p>
            <a:r>
              <a:rPr lang="en-US" sz="130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must record evidence for later review.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064240" cy="4800600"/>
          </a:xfrm>
          <a:prstGeom prst="roundRect">
            <a:avLst>
              <a:gd name="adj" fmla="val 1143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34440"/>
            <a:ext cx="996696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data warehouse analytics pipeline that accepts natural-language questions.</a:t>
            </a:r>
            <a:endParaRPr lang="en-US" sz="1500" dirty="0"/>
          </a:p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planner to convert questions into structured intent before SQL generation.</a:t>
            </a:r>
            <a:endParaRPr lang="en-US" sz="1500" dirty="0"/>
          </a:p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SQL using schema metadata rather than model memory alone.</a:t>
            </a:r>
            <a:endParaRPr lang="en-US" sz="1500" dirty="0"/>
          </a:p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and execute only safe SELECT/CTE queries with row limits and timeouts.</a:t>
            </a:r>
            <a:endParaRPr lang="en-US" sz="1500" dirty="0"/>
          </a:p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dataset onboarding, metadata persistence, frontend interaction, and debug traces.</a:t>
            </a:r>
            <a:endParaRPr lang="en-US" sz="1500" dirty="0"/>
          </a:p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the baseline through automated tests and a documented local smoke run.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Description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demo dataset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91440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25880"/>
            <a:ext cx="4663440" cy="2057400"/>
          </a:xfrm>
          <a:prstGeom prst="roundRect">
            <a:avLst>
              <a:gd name="adj" fmla="val 2667"/>
            </a:avLst>
          </a:prstGeom>
          <a:solidFill>
            <a:srgbClr val="070A0F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53896"/>
            <a:ext cx="438912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data/demo.sqlite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dim_customer: 50 rows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dim_product:  20 rows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dim_date:     366 rows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fact_sales:   4,494 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325880"/>
            <a:ext cx="448056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follows a compact star-schema pattern.</a:t>
            </a:r>
            <a:endParaRPr lang="en-US" sz="1350" dirty="0"/>
          </a:p>
          <a:p>
            <a:r>
              <a:rPr lang="en-US" sz="13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 table stores invoice lines, quantity, unit price, and total amount.</a:t>
            </a:r>
            <a:endParaRPr lang="en-US" sz="1350" dirty="0"/>
          </a:p>
          <a:p>
            <a:r>
              <a:rPr lang="en-US" sz="13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 cover customers, products, and calendar dates.</a:t>
            </a:r>
            <a:endParaRPr lang="en-US" sz="1350" dirty="0"/>
          </a:p>
          <a:p>
            <a:r>
              <a:rPr lang="en-US" sz="13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seed uses deterministic sales-line generation with a fixed random seed for invoices.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886200"/>
            <a:ext cx="416052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941064"/>
            <a:ext cx="4014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scripts/seed_sqlite_demo.py + sqlite count check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Methodology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architecture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064240" cy="4846320"/>
          </a:xfrm>
          <a:prstGeom prst="roundRect">
            <a:avLst>
              <a:gd name="adj" fmla="val 1132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070A0F"/>
          </a:solidFill>
          <a:ln w="12700">
            <a:solidFill>
              <a:srgbClr val="35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1854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7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Prompt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2167128" y="21854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7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9659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18212C"/>
          </a:solidFill>
          <a:ln w="12700">
            <a:solidFill>
              <a:srgbClr val="354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21854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7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3813048" y="21854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7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9659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18212C"/>
          </a:solidFill>
          <a:ln w="12700">
            <a:solidFill>
              <a:srgbClr val="354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21854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7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Generator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458968" y="21854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7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9659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070A0F"/>
          </a:solidFill>
          <a:ln w="12700">
            <a:solidFill>
              <a:srgbClr val="354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21854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7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Executor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7379208" y="21854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7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19659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070A0F"/>
          </a:solidFill>
          <a:ln w="12700">
            <a:solidFill>
              <a:srgbClr val="354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21854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7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9299448" y="21854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7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46920" y="196596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070A0F"/>
          </a:solidFill>
          <a:ln w="12700">
            <a:solidFill>
              <a:srgbClr val="D6FF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0072" y="21854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+ UI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914400" y="3246120"/>
            <a:ext cx="996696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6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returns JSON fields such as intent, task type, entity scope, metric, n, time grain, and comparison mode.</a:t>
            </a:r>
            <a:endParaRPr lang="en-US" sz="1260" dirty="0"/>
          </a:p>
          <a:p>
            <a:r>
              <a:rPr lang="en-US" sz="126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generator receives the structured plan plus dataset metadata and must return SELECT/CTE SQL.</a:t>
            </a:r>
            <a:endParaRPr lang="en-US" sz="1260" dirty="0"/>
          </a:p>
          <a:p>
            <a:r>
              <a:rPr lang="en-US" sz="126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blocks non-SELECT operations and checks table/column allowlists when metadata is available.</a:t>
            </a:r>
            <a:endParaRPr lang="en-US" sz="1260" dirty="0"/>
          </a:p>
          <a:p>
            <a:r>
              <a:rPr lang="en-US" sz="126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Failures can be fed back to the SQL generator for repair.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modules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064240" cy="4937760"/>
          </a:xfrm>
          <a:prstGeom prst="roundRect">
            <a:avLst>
              <a:gd name="adj" fmla="val 1111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43000"/>
            <a:ext cx="214884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197864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246120" y="1152144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</a:rPr>
              <a:t>Static HTML/CSS/JS UI for prompt input, results, SQL, metrics, and debug trace.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214884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83664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api/routes.py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246120" y="1837944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</a:rPr>
              <a:t>FastAPI endpoints for health, dataset onboarding, analyze, reports, mining, and evaluation.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214884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69464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agent/planner.py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246120" y="2523744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</a:rPr>
              <a:t>Groq-backed planner that normalizes LLM JSON into a typed plan contract.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214884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255264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agent/sql_llm_generator.py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246120" y="3209544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</a:rPr>
              <a:t>Schema-aware SQL generator with allowlisted table and column validation.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214884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941064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agent/executor.py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246120" y="3895344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</a:rPr>
              <a:t>Safe SELECT/CTE validation, row limits, timeout checks, and DB adapter execution.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572000"/>
            <a:ext cx="214884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626864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metadata/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246120" y="4581144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DF4"/>
                </a:solidFill>
              </a:rPr>
              <a:t>Dataset registry, schema cache, semantic maps, SQL cache, and query traces.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Analysis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from current repository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91440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61872"/>
            <a:ext cx="4663440" cy="2148840"/>
          </a:xfrm>
          <a:prstGeom prst="roundRect">
            <a:avLst>
              <a:gd name="adj" fmla="val 2553"/>
            </a:avLst>
          </a:prstGeom>
          <a:solidFill>
            <a:srgbClr val="070A0F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89888"/>
            <a:ext cx="438912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tests: 20 passed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health: 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Dataset: demo_sales ready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Smoke query: top_customers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returned: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Retries used: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Evaluator: 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234440"/>
            <a:ext cx="4480560" cy="2788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8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local demo executed a live /analyze/debug request.</a:t>
            </a:r>
            <a:endParaRPr lang="en-US" sz="1280" dirty="0"/>
          </a:p>
          <a:p>
            <a:r>
              <a:rPr lang="en-US" sz="128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generated SQL joined fact_sales and dim_customer, grouped by customer, ordered by total revenue, and limited to 10 rows.</a:t>
            </a:r>
            <a:endParaRPr lang="en-US" sz="1280" dirty="0"/>
          </a:p>
          <a:p>
            <a:r>
              <a:rPr lang="en-US" sz="128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stored in experiments/runs/local_demo_smoke_20260426T092105Z.json and reports/iteration/iter_001.md.</a:t>
            </a:r>
            <a:endParaRPr lang="en-US" sz="1280" dirty="0"/>
          </a:p>
          <a:p>
            <a:r>
              <a:rPr lang="en-US" sz="128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functional smoke result, not a model-quality benchmark.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492240" y="4434840"/>
            <a:ext cx="123444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4489704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8C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SOTA claim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7955280" y="4434840"/>
            <a:ext cx="1325880" cy="246888"/>
          </a:xfrm>
          <a:prstGeom prst="roundRect">
            <a:avLst>
              <a:gd name="adj" fmla="val 18519"/>
            </a:avLst>
          </a:prstGeom>
          <a:solidFill>
            <a:srgbClr val="151B23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28432" y="4489704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verified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Demo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Developer-oriented interface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064240" cy="5394960"/>
          </a:xfrm>
          <a:prstGeom prst="roundRect">
            <a:avLst>
              <a:gd name="adj" fmla="val 1017"/>
            </a:avLst>
          </a:prstGeom>
          <a:solidFill>
            <a:srgbClr val="11161D"/>
          </a:solidFill>
          <a:ln w="12700">
            <a:solidFill>
              <a:srgbClr val="354252"/>
            </a:solidFill>
            <a:prstDash val="solid"/>
          </a:ln>
        </p:spPr>
      </p:sp>
      <p:pic>
        <p:nvPicPr>
          <p:cNvPr id="5" name="Image 0" descr="/Users/venkatrayudu/Workspace/Projects/Data-warehouse-endsem/results/plots/frontend_codex_desktop_202604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10698480" cy="50109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 and Disadvantages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assessment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349240" cy="4800600"/>
          </a:xfrm>
          <a:prstGeom prst="roundRect">
            <a:avLst>
              <a:gd name="adj" fmla="val 1143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914400"/>
            <a:ext cx="5349240" cy="4800600"/>
          </a:xfrm>
          <a:prstGeom prst="roundRect">
            <a:avLst>
              <a:gd name="adj" fmla="val 1143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70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97"/>
                </a:solidFill>
              </a:rPr>
              <a:t>Advantages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48056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Schema-aware planning reduces unsupported assumptions.</a:t>
            </a:r>
            <a:endParaRPr lang="en-US" sz="1270" dirty="0"/>
          </a:p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block unsafe SQL operations.</a:t>
            </a:r>
            <a:endParaRPr lang="en-US" sz="1270" dirty="0"/>
          </a:p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IDs, prompt versions, SQL, timings, and errors improve reproducibility.</a:t>
            </a:r>
            <a:endParaRPr lang="en-US" sz="1270" dirty="0"/>
          </a:p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demo makes local evaluation easier.</a:t>
            </a:r>
            <a:endParaRPr lang="en-US" sz="1270" dirty="0"/>
          </a:p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exposes SQL, rows, metrics, and debug state clearly.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6583680" y="1170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</a:rPr>
              <a:t>Disadvantages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1600200"/>
            <a:ext cx="448056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analysis depends on Groq API availability and quota.</a:t>
            </a:r>
            <a:endParaRPr lang="en-US" sz="1270" dirty="0"/>
          </a:p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broad benchmark suite is included yet.</a:t>
            </a:r>
            <a:endParaRPr lang="en-US" sz="1270" dirty="0"/>
          </a:p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ablation results are available yet for each component.</a:t>
            </a:r>
            <a:endParaRPr lang="en-US" sz="1270" dirty="0"/>
          </a:p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output can still fail and needs repair/validation.</a:t>
            </a:r>
            <a:endParaRPr lang="en-US" sz="1270" dirty="0"/>
          </a:p>
          <a:p>
            <a:r>
              <a:rPr lang="en-US" sz="127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dataset is synthetic and limited in domain coverage.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proven now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064240" cy="4754880"/>
          </a:xfrm>
          <a:prstGeom prst="roundRect">
            <a:avLst>
              <a:gd name="adj" fmla="val 1154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implements a working baseline for natural-language warehouse analytics.</a:t>
            </a:r>
            <a:endParaRPr lang="en-US" sz="1500" dirty="0"/>
          </a:p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separates planning, SQL generation, execution safety, result evaluation, and trace logging.</a:t>
            </a:r>
            <a:endParaRPr lang="en-US" sz="1500" dirty="0"/>
          </a:p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has been verified through tests, API health checks, dataset availability, frontend serving, and one live analysis run.</a:t>
            </a:r>
            <a:endParaRPr lang="en-US" sz="1500" dirty="0"/>
          </a:p>
          <a:p>
            <a:r>
              <a:rPr lang="en-US" sz="150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evidence supports a functional prototype claim, not SOTA or publication-ready claims.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4709160"/>
            <a:ext cx="9875520" cy="502920"/>
          </a:xfrm>
          <a:prstGeom prst="roundRect">
            <a:avLst>
              <a:gd name="adj" fmla="val 10909"/>
            </a:avLst>
          </a:prstGeom>
          <a:solidFill>
            <a:srgbClr val="070A0F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83717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F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claim: traceable, schema-aware autonomous SQL analytics baseline.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75320" y="192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064240" cy="4846320"/>
          </a:xfrm>
          <a:prstGeom prst="roundRect">
            <a:avLst>
              <a:gd name="adj" fmla="val 1132"/>
            </a:avLst>
          </a:prstGeom>
          <a:solidFill>
            <a:srgbClr val="11161D"/>
          </a:solidFill>
          <a:ln w="12700">
            <a:solidFill>
              <a:srgbClr val="263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34440"/>
            <a:ext cx="9966960" cy="3840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benchmark suite comparing baseline templates, direct LLM-to-SQL, and planner-first generation.</a:t>
            </a:r>
            <a:endParaRPr lang="en-US" sz="1450" dirty="0"/>
          </a:p>
          <a:p>
            <a:r>
              <a:rPr lang="en-US" sz="14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ablations for metadata grounding, allowlist checks, repair loop, SQL cache, and semantic maps.</a:t>
            </a:r>
            <a:endParaRPr lang="en-US" sz="1450" dirty="0"/>
          </a:p>
          <a:p>
            <a:r>
              <a:rPr lang="en-US" sz="14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on multiple datasets and database engines.</a:t>
            </a:r>
            <a:endParaRPr lang="en-US" sz="1450" dirty="0"/>
          </a:p>
          <a:p>
            <a:r>
              <a:rPr lang="en-US" sz="14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CI smoke tests that avoid external LLM calls, plus optional live LLM checks.</a:t>
            </a:r>
            <a:endParaRPr lang="en-US" sz="1450" dirty="0"/>
          </a:p>
          <a:p>
            <a:r>
              <a:rPr lang="en-US" sz="14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report generation with citations, charts, failure categories, and limitations derived from run artifacts.</a:t>
            </a:r>
            <a:endParaRPr lang="en-US" sz="1450" dirty="0"/>
          </a:p>
          <a:p>
            <a:r>
              <a:rPr lang="en-US" sz="1450" dirty="0">
                <a:solidFill>
                  <a:srgbClr val="E7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authentication and deployment hardening before real production use.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SQL Agent Data Warehouse</dc:title>
  <dc:subject>Autonomous SQL Agent Data Warehouse</dc:subject>
  <dc:creator>Data Warehouse Endsem Project</dc:creator>
  <cp:lastModifiedBy>Data Warehouse Endsem Project</cp:lastModifiedBy>
  <cp:revision>1</cp:revision>
  <dcterms:created xsi:type="dcterms:W3CDTF">2026-04-26T09:36:59Z</dcterms:created>
  <dcterms:modified xsi:type="dcterms:W3CDTF">2026-04-26T09:36:59Z</dcterms:modified>
</cp:coreProperties>
</file>